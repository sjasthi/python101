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5" r:id="rId5"/>
    <p:sldId id="266" r:id="rId6"/>
    <p:sldId id="258" r:id="rId7"/>
    <p:sldId id="267" r:id="rId8"/>
    <p:sldId id="261" r:id="rId9"/>
    <p:sldId id="259" r:id="rId10"/>
    <p:sldId id="262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78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B4D11-78D4-87F2-099A-0E5D8A433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B78D27-82F5-C39B-7B17-0775F42C9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E0E3B-281E-89A2-DE1A-25ECEF29D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86978-F889-4169-A786-3474D416E8D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7EEEB-C74E-93F1-0D71-F1D464D31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02889-23EC-23C5-D83D-8071A090A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1F407-D8F2-423E-9740-2B5F6FD3B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60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6347D-CEB1-92DD-332A-DED3ADFD6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0EB9D-4A40-284A-E088-CA11B3E260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185E0-F07D-5121-EE43-ACA140DD7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86978-F889-4169-A786-3474D416E8D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B3450-4487-0229-88C2-FEE877FB0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0A000-CC70-991B-E322-3AA413A64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1F407-D8F2-423E-9740-2B5F6FD3B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773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3E80C-17C4-CB3F-7E9C-3C4A5282B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696D8-BC9C-8AF0-5A30-5CD2E39D7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98EF4-DD94-43F1-A088-D4C59F255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86978-F889-4169-A786-3474D416E8D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15131-BD2F-F865-69D9-B5D52DEF8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0CE3F-759C-0381-C255-B4A32C833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1F407-D8F2-423E-9740-2B5F6FD3B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106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A3366-1B2B-942B-9FA8-0EE1246A2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07305-03BD-D2DF-276E-469CCDD969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41E7D4-3B16-2844-13C1-1C660F8F2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BDA302-2354-1717-4864-E05B7BFB5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86978-F889-4169-A786-3474D416E8D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88CAF5-D3F2-478E-1A92-BAD4C8999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4FDAE-4D9F-396E-47C3-E62C3C00E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1F407-D8F2-423E-9740-2B5F6FD3B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555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4D6B5-726D-DD4D-19C8-98D97FDE8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7C453-2811-0E11-3378-4FCC5CF02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DCA45-3622-E77C-5436-65E34F8C94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73B2A2-8D1C-1A75-F874-83D7C0E537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1F55A9-FD2E-6054-F0C9-66A8A374E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C97A67-A41E-FC9A-BEB1-D9CB793EA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86978-F889-4169-A786-3474D416E8D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74F5CD-0189-1F4C-DB44-ADF9DE5CA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ED2EF5-B73F-9F8E-AD97-C75EB142A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1F407-D8F2-423E-9740-2B5F6FD3B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255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A7D42-9DBA-DEC5-F667-A87894BC7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ACF532-3E80-2E64-2795-1FA83B02D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86978-F889-4169-A786-3474D416E8D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3307A4-F4BE-CDBC-C297-56DAFC934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A5040E-F20E-40D2-7F30-A018D0B6B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1F407-D8F2-423E-9740-2B5F6FD3B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162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5774F8-DEED-3CBD-6DD5-AD3442D5F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86978-F889-4169-A786-3474D416E8D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FF27DD-51C4-49F4-73E2-9073FD3F6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3A5A3-369B-B26A-3A85-FFDBFEBBF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1F407-D8F2-423E-9740-2B5F6FD3B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9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3AC09-8F7E-A67E-D8EE-C72AA446B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62C06-BF6E-AD82-B540-85D79F808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81D6CB-D6EE-BBDE-A2A6-84005E89D3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AFC70A-7606-5C18-9FD2-F691B3991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86978-F889-4169-A786-3474D416E8D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7BD1C-37B7-8A47-6809-5082AFE61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ED18C6-3A2E-CA80-7767-277CCBDC1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1F407-D8F2-423E-9740-2B5F6FD3B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923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ACCDF-0B7D-664E-BA81-80E8C617B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2C3CF6-F6E8-483E-F42E-C45A4E2F1A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7D3BEA-33EB-341C-13E5-45CD8CAE92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CC7D3A-52CD-9F5A-23DD-61F460FB5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86978-F889-4169-A786-3474D416E8D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CB0A00-F2E5-BDDA-17C7-C1D48DC19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75DCDB-3B6B-D0EE-4488-93F8DE3C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1F407-D8F2-423E-9740-2B5F6FD3B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35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27FFE-3215-D3D3-1BD8-72A3D8981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6495DB-A114-8AE3-2285-D046D0DA0A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8D661-6822-0819-26F8-31A5949A9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86978-F889-4169-A786-3474D416E8D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8B04D-926F-08C5-B3E0-0A7852DEA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A2A72-4419-7725-8DE8-7A971E7EE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1F407-D8F2-423E-9740-2B5F6FD3B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976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EBDE2A-DF75-D9C6-1903-03AEEDBD32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6315FD-981D-9407-3943-DB5FE489DE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F158B4-E96F-7C69-BCCC-5ACF7D643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86978-F889-4169-A786-3474D416E8D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93B06-E20D-EBF2-7D4B-60BD15BA3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1D2E5-E4D6-69BD-D74B-E2BF5A471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81F407-D8F2-423E-9740-2B5F6FD3B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97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895B58-DBBA-2A90-47FB-7AE5AE8E5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906D8D-FB39-97E8-AC3C-02FFD997A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6EE4F-9E84-486D-7C62-79B2E9CAC0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886978-F889-4169-A786-3474D416E8DE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23AA39-A434-2276-1634-7F9F66F181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4169B-5CE3-6C56-D990-93897BA214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81F407-D8F2-423E-9740-2B5F6FD3B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56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P2_.fn28.ln28@learnandhelp.com" TargetMode="External"/><Relationship Id="rId2" Type="http://schemas.openxmlformats.org/officeDocument/2006/relationships/hyperlink" Target="mailto:P1_.fn28.ln28@learnandhelp.com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P1_.fn1.ln1@learnandhelp.com" TargetMode="External"/><Relationship Id="rId7" Type="http://schemas.openxmlformats.org/officeDocument/2006/relationships/hyperlink" Target="mailto:P2_.fn2.ln2@learnandhelp.com" TargetMode="External"/><Relationship Id="rId2" Type="http://schemas.openxmlformats.org/officeDocument/2006/relationships/hyperlink" Target="mailto:fn1.ln1@learnandhelp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P1_.fn2.ln2@learnandhelp.com" TargetMode="External"/><Relationship Id="rId5" Type="http://schemas.openxmlformats.org/officeDocument/2006/relationships/hyperlink" Target="mailto:fn2.ln2@learnandhelp.com" TargetMode="External"/><Relationship Id="rId4" Type="http://schemas.openxmlformats.org/officeDocument/2006/relationships/hyperlink" Target="mailto:P2_.fn1.ln1@learnandhelp.com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028B5D9-FA6A-FB00-2922-479F1B8C665F}"/>
              </a:ext>
            </a:extLst>
          </p:cNvPr>
          <p:cNvSpPr txBox="1"/>
          <p:nvPr/>
        </p:nvSpPr>
        <p:spPr>
          <a:xfrm>
            <a:off x="500742" y="327468"/>
            <a:ext cx="1054825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/>
              <a:t>Python 101 Auto Grader</a:t>
            </a:r>
          </a:p>
          <a:p>
            <a:pPr algn="ctr"/>
            <a:r>
              <a:rPr lang="en-US" sz="4400" dirty="0"/>
              <a:t>Design of the program</a:t>
            </a:r>
          </a:p>
        </p:txBody>
      </p:sp>
    </p:spTree>
    <p:extLst>
      <p:ext uri="{BB962C8B-B14F-4D97-AF65-F5344CB8AC3E}">
        <p14:creationId xmlns:p14="http://schemas.microsoft.com/office/powerpoint/2010/main" val="1993029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9F0A3-15B4-B7DC-CF7C-7915A0237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E7451FD-85AA-3D9F-82D7-ACC4D12E9D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9027749"/>
              </p:ext>
            </p:extLst>
          </p:nvPr>
        </p:nvGraphicFramePr>
        <p:xfrm>
          <a:off x="500742" y="3060094"/>
          <a:ext cx="4953001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0936">
                  <a:extLst>
                    <a:ext uri="{9D8B030D-6E8A-4147-A177-3AD203B41FA5}">
                      <a16:colId xmlns:a16="http://schemas.microsoft.com/office/drawing/2014/main" val="3764308485"/>
                    </a:ext>
                  </a:extLst>
                </a:gridCol>
                <a:gridCol w="2912065">
                  <a:extLst>
                    <a:ext uri="{9D8B030D-6E8A-4147-A177-3AD203B41FA5}">
                      <a16:colId xmlns:a16="http://schemas.microsoft.com/office/drawing/2014/main" val="3591653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535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last_name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ln1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111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first_name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fn1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543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fn1.ln1@learnandhelp.com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339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scores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617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497262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093C5E7-CE80-CF03-B413-CBF66ECC9F5D}"/>
              </a:ext>
            </a:extLst>
          </p:cNvPr>
          <p:cNvCxnSpPr>
            <a:cxnSpLocks/>
          </p:cNvCxnSpPr>
          <p:nvPr/>
        </p:nvCxnSpPr>
        <p:spPr>
          <a:xfrm flipV="1">
            <a:off x="4920343" y="3907971"/>
            <a:ext cx="2231572" cy="892629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70BC160-3961-7B5D-61F9-D78E6B13E0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9231344"/>
              </p:ext>
            </p:extLst>
          </p:nvPr>
        </p:nvGraphicFramePr>
        <p:xfrm>
          <a:off x="7151915" y="2358793"/>
          <a:ext cx="4332515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8428">
                  <a:extLst>
                    <a:ext uri="{9D8B030D-6E8A-4147-A177-3AD203B41FA5}">
                      <a16:colId xmlns:a16="http://schemas.microsoft.com/office/drawing/2014/main" val="3764308485"/>
                    </a:ext>
                  </a:extLst>
                </a:gridCol>
                <a:gridCol w="2754087">
                  <a:extLst>
                    <a:ext uri="{9D8B030D-6E8A-4147-A177-3AD203B41FA5}">
                      <a16:colId xmlns:a16="http://schemas.microsoft.com/office/drawing/2014/main" val="3591653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535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Quiz1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111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Quiz2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543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Quiz3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339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lab1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617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497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111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8924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8411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217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Final_project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9054790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B0C92AB-32EF-1585-251D-63455F4581D4}"/>
              </a:ext>
            </a:extLst>
          </p:cNvPr>
          <p:cNvSpPr txBox="1"/>
          <p:nvPr/>
        </p:nvSpPr>
        <p:spPr>
          <a:xfrm>
            <a:off x="500742" y="327468"/>
            <a:ext cx="1054825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/>
              <a:t>Representing a Student Data</a:t>
            </a:r>
          </a:p>
          <a:p>
            <a:pPr algn="ctr"/>
            <a:r>
              <a:rPr lang="en-US" sz="4400" dirty="0"/>
              <a:t>(dictionary containing a dictionary)</a:t>
            </a:r>
          </a:p>
        </p:txBody>
      </p:sp>
    </p:spTree>
    <p:extLst>
      <p:ext uri="{BB962C8B-B14F-4D97-AF65-F5344CB8AC3E}">
        <p14:creationId xmlns:p14="http://schemas.microsoft.com/office/powerpoint/2010/main" val="2151383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AB4E41B-7A51-7826-4C2D-D55512859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131" y="3119154"/>
            <a:ext cx="6538527" cy="34064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45D506E-A94B-6593-B895-BE1AAC57E5A4}"/>
              </a:ext>
            </a:extLst>
          </p:cNvPr>
          <p:cNvSpPr txBox="1"/>
          <p:nvPr/>
        </p:nvSpPr>
        <p:spPr>
          <a:xfrm>
            <a:off x="500742" y="327468"/>
            <a:ext cx="1054825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/>
              <a:t>Representing a Student Data</a:t>
            </a:r>
          </a:p>
          <a:p>
            <a:pPr algn="ctr"/>
            <a:r>
              <a:rPr lang="en-US" sz="4400" dirty="0"/>
              <a:t>(dictionary containing a dictionary)</a:t>
            </a:r>
          </a:p>
        </p:txBody>
      </p:sp>
    </p:spTree>
    <p:extLst>
      <p:ext uri="{BB962C8B-B14F-4D97-AF65-F5344CB8AC3E}">
        <p14:creationId xmlns:p14="http://schemas.microsoft.com/office/powerpoint/2010/main" val="1832683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66FFC-9505-B3EA-6B0B-580B9848A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951724F-3E41-F986-9826-DD2C7CEA0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164" y="1895645"/>
            <a:ext cx="5077835" cy="25348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09A502-B7FC-1436-D7E5-AAEBA274A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8286" y="3251539"/>
            <a:ext cx="5845629" cy="30454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B526CAF-DA1D-2402-762A-64E5EBF92D4A}"/>
              </a:ext>
            </a:extLst>
          </p:cNvPr>
          <p:cNvSpPr txBox="1"/>
          <p:nvPr/>
        </p:nvSpPr>
        <p:spPr>
          <a:xfrm>
            <a:off x="500742" y="327468"/>
            <a:ext cx="1054825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/>
              <a:t>Representing a Student Data</a:t>
            </a:r>
          </a:p>
          <a:p>
            <a:pPr algn="ctr"/>
            <a:r>
              <a:rPr lang="en-US" sz="4400" dirty="0"/>
              <a:t>(dictionary containing a dictionary)</a:t>
            </a:r>
          </a:p>
        </p:txBody>
      </p:sp>
    </p:spTree>
    <p:extLst>
      <p:ext uri="{BB962C8B-B14F-4D97-AF65-F5344CB8AC3E}">
        <p14:creationId xmlns:p14="http://schemas.microsoft.com/office/powerpoint/2010/main" val="4195986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B77E27-5160-4829-52AC-73F65A22F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92" y="1527006"/>
            <a:ext cx="7292065" cy="52330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78F988-14EE-C1DE-F831-4AA5D9565964}"/>
              </a:ext>
            </a:extLst>
          </p:cNvPr>
          <p:cNvSpPr txBox="1"/>
          <p:nvPr/>
        </p:nvSpPr>
        <p:spPr>
          <a:xfrm>
            <a:off x="284392" y="0"/>
            <a:ext cx="1054825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/>
              <a:t>Representing two Students</a:t>
            </a:r>
          </a:p>
          <a:p>
            <a:pPr algn="ctr"/>
            <a:r>
              <a:rPr lang="en-US" sz="4400" dirty="0"/>
              <a:t>(dictionary containing a dictionary)</a:t>
            </a:r>
          </a:p>
        </p:txBody>
      </p:sp>
    </p:spTree>
    <p:extLst>
      <p:ext uri="{BB962C8B-B14F-4D97-AF65-F5344CB8AC3E}">
        <p14:creationId xmlns:p14="http://schemas.microsoft.com/office/powerpoint/2010/main" val="1048027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EA0A808-B172-AA33-D44C-5EC225457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81" y="3231321"/>
            <a:ext cx="10397118" cy="31799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E6A66AD-C2DE-6B1E-CD81-D0422CC448E7}"/>
              </a:ext>
            </a:extLst>
          </p:cNvPr>
          <p:cNvSpPr txBox="1"/>
          <p:nvPr/>
        </p:nvSpPr>
        <p:spPr>
          <a:xfrm>
            <a:off x="284392" y="0"/>
            <a:ext cx="10548257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/>
              <a:t>Representing all Students</a:t>
            </a:r>
          </a:p>
          <a:p>
            <a:pPr algn="ctr"/>
            <a:r>
              <a:rPr lang="en-US" sz="4400" dirty="0"/>
              <a:t>(list of student dictionaries)</a:t>
            </a:r>
          </a:p>
          <a:p>
            <a:pPr algn="ctr"/>
            <a:endParaRPr lang="en-US" sz="4400" dirty="0"/>
          </a:p>
          <a:p>
            <a:pPr algn="ctr"/>
            <a:r>
              <a:rPr lang="en-US" sz="2400" dirty="0" err="1"/>
              <a:t>student_data_with_scores</a:t>
            </a:r>
            <a:r>
              <a:rPr lang="en-US" sz="2400" dirty="0"/>
              <a:t>  (suggested variable name)</a:t>
            </a:r>
          </a:p>
        </p:txBody>
      </p:sp>
    </p:spTree>
    <p:extLst>
      <p:ext uri="{BB962C8B-B14F-4D97-AF65-F5344CB8AC3E}">
        <p14:creationId xmlns:p14="http://schemas.microsoft.com/office/powerpoint/2010/main" val="4096043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56B7E-524C-7925-296D-18AFB625C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8CEB621-D750-2E0C-96A9-5577B451CEFD}"/>
              </a:ext>
            </a:extLst>
          </p:cNvPr>
          <p:cNvSpPr txBox="1"/>
          <p:nvPr/>
        </p:nvSpPr>
        <p:spPr>
          <a:xfrm>
            <a:off x="447677" y="217715"/>
            <a:ext cx="10548257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/>
              <a:t>How to represent email data?</a:t>
            </a:r>
          </a:p>
          <a:p>
            <a:pPr algn="ctr"/>
            <a:endParaRPr lang="en-US" sz="4400" dirty="0"/>
          </a:p>
          <a:p>
            <a:pPr algn="ctr"/>
            <a:r>
              <a:rPr lang="en-US" sz="4400" dirty="0"/>
              <a:t>How to load “python_101_emails.csv”?</a:t>
            </a:r>
          </a:p>
          <a:p>
            <a:pPr algn="ctr"/>
            <a:endParaRPr lang="en-US" sz="4400" dirty="0"/>
          </a:p>
          <a:p>
            <a:r>
              <a:rPr lang="en-US" sz="2000" dirty="0"/>
              <a:t>Last Name</a:t>
            </a:r>
          </a:p>
          <a:p>
            <a:r>
              <a:rPr lang="en-US" sz="2000" dirty="0"/>
              <a:t>First Name </a:t>
            </a:r>
          </a:p>
          <a:p>
            <a:r>
              <a:rPr lang="en-US" sz="2000" dirty="0"/>
              <a:t>Email</a:t>
            </a:r>
          </a:p>
          <a:p>
            <a:r>
              <a:rPr lang="en-US" sz="2000" dirty="0"/>
              <a:t>Parent 1 Last Name, </a:t>
            </a:r>
          </a:p>
          <a:p>
            <a:r>
              <a:rPr lang="en-US" sz="2000" dirty="0"/>
              <a:t>Parent1 First Name, </a:t>
            </a:r>
          </a:p>
          <a:p>
            <a:r>
              <a:rPr lang="en-US" sz="2000" dirty="0"/>
              <a:t>Parent1 Email</a:t>
            </a:r>
          </a:p>
          <a:p>
            <a:r>
              <a:rPr lang="en-US" sz="2000" dirty="0"/>
              <a:t>Parent2 Last Name, </a:t>
            </a:r>
          </a:p>
          <a:p>
            <a:r>
              <a:rPr lang="en-US" sz="2000" dirty="0"/>
              <a:t>Parent2 First Name, </a:t>
            </a:r>
          </a:p>
          <a:p>
            <a:r>
              <a:rPr lang="en-US" sz="2000" dirty="0"/>
              <a:t>Parent2 Email</a:t>
            </a:r>
          </a:p>
        </p:txBody>
      </p:sp>
    </p:spTree>
    <p:extLst>
      <p:ext uri="{BB962C8B-B14F-4D97-AF65-F5344CB8AC3E}">
        <p14:creationId xmlns:p14="http://schemas.microsoft.com/office/powerpoint/2010/main" val="4178228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B47E2-208A-BC0A-088F-999597C92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D134885-1F1D-C072-A7E0-D494BC07658A}"/>
              </a:ext>
            </a:extLst>
          </p:cNvPr>
          <p:cNvSpPr txBox="1"/>
          <p:nvPr/>
        </p:nvSpPr>
        <p:spPr>
          <a:xfrm>
            <a:off x="211182" y="566954"/>
            <a:ext cx="1054825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Dictionary of dictionaries</a:t>
            </a:r>
          </a:p>
          <a:p>
            <a:pPr algn="ctr"/>
            <a:r>
              <a:rPr lang="en-US" sz="3200" dirty="0">
                <a:solidFill>
                  <a:srgbClr val="1F1F1F"/>
                </a:solidFill>
                <a:latin typeface="Courier New" panose="02070309020205020404" pitchFamily="49" charset="0"/>
              </a:rPr>
              <a:t>Where</a:t>
            </a:r>
          </a:p>
          <a:p>
            <a:pPr algn="ctr"/>
            <a:r>
              <a:rPr lang="en-US" sz="3200" dirty="0">
                <a:solidFill>
                  <a:srgbClr val="1F1F1F"/>
                </a:solidFill>
                <a:latin typeface="Courier New" panose="02070309020205020404" pitchFamily="49" charset="0"/>
              </a:rPr>
              <a:t>KEY = students email</a:t>
            </a:r>
          </a:p>
          <a:p>
            <a:pPr algn="ctr"/>
            <a:r>
              <a:rPr lang="en-US" sz="3200" dirty="0">
                <a:solidFill>
                  <a:srgbClr val="1F1F1F"/>
                </a:solidFill>
                <a:latin typeface="Courier New" panose="02070309020205020404" pitchFamily="49" charset="0"/>
              </a:rPr>
              <a:t>And VALUE = is another dictionary</a:t>
            </a:r>
            <a:endParaRPr lang="en-US" sz="3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DC9E6B3-D720-54F1-A46A-375C76EF87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611271"/>
              </p:ext>
            </p:extLst>
          </p:nvPr>
        </p:nvGraphicFramePr>
        <p:xfrm>
          <a:off x="500742" y="4098319"/>
          <a:ext cx="4332515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9178">
                  <a:extLst>
                    <a:ext uri="{9D8B030D-6E8A-4147-A177-3AD203B41FA5}">
                      <a16:colId xmlns:a16="http://schemas.microsoft.com/office/drawing/2014/main" val="3764308485"/>
                    </a:ext>
                  </a:extLst>
                </a:gridCol>
                <a:gridCol w="1663337">
                  <a:extLst>
                    <a:ext uri="{9D8B030D-6E8A-4147-A177-3AD203B41FA5}">
                      <a16:colId xmlns:a16="http://schemas.microsoft.com/office/drawing/2014/main" val="3591653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535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fn28.ln28@learnandhelp.com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111535"/>
                  </a:ext>
                </a:extLst>
              </a:tr>
            </a:tbl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CBCBAAE-4BE5-6DD0-9E83-E09FD2FA2844}"/>
              </a:ext>
            </a:extLst>
          </p:cNvPr>
          <p:cNvCxnSpPr>
            <a:cxnSpLocks/>
          </p:cNvCxnSpPr>
          <p:nvPr/>
        </p:nvCxnSpPr>
        <p:spPr>
          <a:xfrm flipV="1">
            <a:off x="3949337" y="4467225"/>
            <a:ext cx="2146663" cy="292321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37D6B1F-65F5-B458-6AEF-015BC455B1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1746114"/>
              </p:ext>
            </p:extLst>
          </p:nvPr>
        </p:nvGraphicFramePr>
        <p:xfrm>
          <a:off x="6302829" y="3397018"/>
          <a:ext cx="5523411" cy="293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778">
                  <a:extLst>
                    <a:ext uri="{9D8B030D-6E8A-4147-A177-3AD203B41FA5}">
                      <a16:colId xmlns:a16="http://schemas.microsoft.com/office/drawing/2014/main" val="3764308485"/>
                    </a:ext>
                  </a:extLst>
                </a:gridCol>
                <a:gridCol w="4227633">
                  <a:extLst>
                    <a:ext uri="{9D8B030D-6E8A-4147-A177-3AD203B41FA5}">
                      <a16:colId xmlns:a16="http://schemas.microsoft.com/office/drawing/2014/main" val="3591653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535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p1_name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1F1F1F"/>
                          </a:solidFill>
                          <a:effectLst/>
                          <a:latin typeface="Courier New" panose="02070309020205020404" pitchFamily="49" charset="0"/>
                        </a:rPr>
                        <a:t>'P2FNameln28fn28 P1LName ln28fn28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5111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p1_email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0B57D0"/>
                          </a:solidFill>
                          <a:effectLst/>
                          <a:latin typeface="Courier New" panose="02070309020205020404" pitchFamily="49" charset="0"/>
                          <a:hlinkClick r:id="rId2"/>
                        </a:rPr>
                        <a:t>P1_.fn28.ln28@learnandhelp.com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5543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p2_name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1F1F1F"/>
                          </a:solidFill>
                          <a:effectLst/>
                          <a:latin typeface="Courier New" panose="02070309020205020404" pitchFamily="49" charset="0"/>
                        </a:rPr>
                        <a:t>'P2FNameln28fn28 P2LName ln28fn28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339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p2_email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solidFill>
                            <a:srgbClr val="1F1F1F"/>
                          </a:solidFill>
                          <a:effectLst/>
                          <a:latin typeface="Courier New" panose="02070309020205020404" pitchFamily="49" charset="0"/>
                        </a:rPr>
                        <a:t>'</a:t>
                      </a:r>
                      <a:r>
                        <a:rPr lang="en-US" b="0" i="0" dirty="0">
                          <a:solidFill>
                            <a:srgbClr val="0B57D0"/>
                          </a:solidFill>
                          <a:effectLst/>
                          <a:latin typeface="Courier New" panose="02070309020205020404" pitchFamily="49" charset="0"/>
                          <a:hlinkClick r:id="rId3"/>
                        </a:rPr>
                        <a:t>P2_.fn28.ln28@learnandhelp.com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6177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8626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5610D-72CE-1D1B-0F5C-45D9934E0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ADCD81E-8E91-3659-0C3D-1DDEBD46A6A3}"/>
              </a:ext>
            </a:extLst>
          </p:cNvPr>
          <p:cNvSpPr txBox="1"/>
          <p:nvPr/>
        </p:nvSpPr>
        <p:spPr>
          <a:xfrm>
            <a:off x="175260" y="706483"/>
            <a:ext cx="1220288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{'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2"/>
              </a:rPr>
              <a:t>fn1.ln1@learnandhelp.com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{'p1_name': 'P2FNameln1fn1 P1LName ln1fn1', 'p1_email':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3"/>
              </a:rPr>
              <a:t>P1_.fn1.ln1@learnandhelp.com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', 'p2_name': 'P2FNameln1fn1 P2LName ln1fn1', 'p2_email':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4"/>
              </a:rPr>
              <a:t>P2_.fn1.ln1@learnandhelp.com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’}, </a:t>
            </a:r>
          </a:p>
          <a:p>
            <a:endParaRPr lang="en-US" dirty="0">
              <a:solidFill>
                <a:srgbClr val="1F1F1F"/>
              </a:solidFill>
              <a:latin typeface="Courier New" panose="02070309020205020404" pitchFamily="49" charset="0"/>
            </a:endParaRPr>
          </a:p>
          <a:p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5"/>
              </a:rPr>
              <a:t>fn2.ln2@learnandhelp.com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': {'p1_name': 'P2FNameln2fn2 P1LName ln2fn2', 'p1_email':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6"/>
              </a:rPr>
              <a:t>P1_.fn2.ln2@learnandhelp.com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', 'p2_name': 'P2FNameln2fn2 P2LName ln2fn2', 'p2_email': '</a:t>
            </a:r>
            <a:r>
              <a:rPr lang="en-US" b="0" i="0" dirty="0">
                <a:solidFill>
                  <a:srgbClr val="0B57D0"/>
                </a:solidFill>
                <a:effectLst/>
                <a:latin typeface="Courier New" panose="02070309020205020404" pitchFamily="49" charset="0"/>
                <a:hlinkClick r:id="rId7"/>
              </a:rPr>
              <a:t>P2_.fn2.ln2@learnandhelp.com</a:t>
            </a:r>
            <a:endParaRPr lang="en-US" b="0" i="0" dirty="0">
              <a:solidFill>
                <a:srgbClr val="0B57D0"/>
              </a:solidFill>
              <a:effectLst/>
              <a:latin typeface="Courier New" panose="02070309020205020404" pitchFamily="49" charset="0"/>
            </a:endParaRPr>
          </a:p>
          <a:p>
            <a:endParaRPr lang="en-US" dirty="0">
              <a:solidFill>
                <a:srgbClr val="0B57D0"/>
              </a:solidFill>
              <a:latin typeface="Courier New" panose="02070309020205020404" pitchFamily="49" charset="0"/>
            </a:endParaRPr>
          </a:p>
          <a:p>
            <a:endParaRPr lang="en-US" dirty="0">
              <a:solidFill>
                <a:srgbClr val="0B57D0"/>
              </a:solidFill>
              <a:latin typeface="Courier New" panose="02070309020205020404" pitchFamily="49" charset="0"/>
            </a:endParaRPr>
          </a:p>
          <a:p>
            <a:endParaRPr lang="en-US" b="1" dirty="0">
              <a:solidFill>
                <a:srgbClr val="0B57D0"/>
              </a:solidFill>
              <a:latin typeface="Courier New" panose="02070309020205020404" pitchFamily="49" charset="0"/>
            </a:endParaRPr>
          </a:p>
          <a:p>
            <a:r>
              <a:rPr lang="en-US" b="1" dirty="0">
                <a:solidFill>
                  <a:srgbClr val="0B57D0"/>
                </a:solidFill>
                <a:latin typeface="Courier New" panose="02070309020205020404" pitchFamily="49" charset="0"/>
              </a:rPr>
              <a:t>We will have one dictionary.</a:t>
            </a:r>
          </a:p>
          <a:p>
            <a:r>
              <a:rPr lang="en-US" b="1" dirty="0">
                <a:solidFill>
                  <a:srgbClr val="0B57D0"/>
                </a:solidFill>
                <a:latin typeface="Courier New" panose="02070309020205020404" pitchFamily="49" charset="0"/>
              </a:rPr>
              <a:t>Let us call it as “</a:t>
            </a:r>
            <a:r>
              <a:rPr lang="en-US" b="1" dirty="0" err="1">
                <a:solidFill>
                  <a:srgbClr val="0B57D0"/>
                </a:solidFill>
                <a:latin typeface="Courier New" panose="02070309020205020404" pitchFamily="49" charset="0"/>
              </a:rPr>
              <a:t>emails_lookup_table</a:t>
            </a:r>
            <a:r>
              <a:rPr lang="en-US" b="1" dirty="0">
                <a:solidFill>
                  <a:srgbClr val="0B57D0"/>
                </a:solidFill>
                <a:latin typeface="Courier New" panose="02070309020205020404" pitchFamily="49" charset="0"/>
              </a:rPr>
              <a:t>”.</a:t>
            </a:r>
          </a:p>
          <a:p>
            <a:r>
              <a:rPr lang="en-US" b="1" dirty="0">
                <a:solidFill>
                  <a:srgbClr val="0B57D0"/>
                </a:solidFill>
                <a:latin typeface="Courier New" panose="02070309020205020404" pitchFamily="49" charset="0"/>
              </a:rPr>
              <a:t>If we have 30 students, this “</a:t>
            </a:r>
            <a:r>
              <a:rPr lang="en-US" b="1" dirty="0" err="1">
                <a:solidFill>
                  <a:srgbClr val="0B57D0"/>
                </a:solidFill>
                <a:latin typeface="Courier New" panose="02070309020205020404" pitchFamily="49" charset="0"/>
              </a:rPr>
              <a:t>email_lookup_table</a:t>
            </a:r>
            <a:r>
              <a:rPr lang="en-US" b="1" dirty="0">
                <a:solidFill>
                  <a:srgbClr val="0B57D0"/>
                </a:solidFill>
                <a:latin typeface="Courier New" panose="02070309020205020404" pitchFamily="49" charset="0"/>
              </a:rPr>
              <a:t>” will have 30 keys.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35E72E-D615-18E5-45BF-950F88C07DFD}"/>
              </a:ext>
            </a:extLst>
          </p:cNvPr>
          <p:cNvSpPr txBox="1"/>
          <p:nvPr/>
        </p:nvSpPr>
        <p:spPr>
          <a:xfrm>
            <a:off x="2286000" y="167759"/>
            <a:ext cx="6191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This is the sample data from the data </a:t>
            </a:r>
            <a:r>
              <a:rPr lang="en-US" sz="1800" dirty="0" err="1"/>
              <a:t>stucture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86642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518B8-C4D8-F25B-9B6E-00C7422AF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643310-0A57-9A3A-3F75-A6C3D4FAF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670" y="304800"/>
            <a:ext cx="3812129" cy="11849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7CD6A0-35C3-840F-42ED-56FF7F94C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669" y="1767840"/>
            <a:ext cx="3812129" cy="11849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55A80C-4F47-7899-6B27-57BB0819D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668" y="3312680"/>
            <a:ext cx="3812129" cy="11849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BA2CFE-7427-0FE1-3395-B5910E87C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667" y="4989080"/>
            <a:ext cx="3812129" cy="11849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8993DA0-157B-865C-4DFE-68EDD4361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79" y="655320"/>
            <a:ext cx="5508901" cy="516299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4755A1-D811-96A2-A73F-6C581DEDCE2A}"/>
              </a:ext>
            </a:extLst>
          </p:cNvPr>
          <p:cNvSpPr txBox="1"/>
          <p:nvPr/>
        </p:nvSpPr>
        <p:spPr>
          <a:xfrm>
            <a:off x="2286000" y="43934"/>
            <a:ext cx="6191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Visual </a:t>
            </a:r>
            <a:r>
              <a:rPr lang="en-US" sz="1800" dirty="0" err="1"/>
              <a:t>Representaton</a:t>
            </a:r>
            <a:r>
              <a:rPr lang="en-US" sz="1800" dirty="0"/>
              <a:t> of </a:t>
            </a:r>
            <a:r>
              <a:rPr lang="en-US" sz="1800" dirty="0" err="1"/>
              <a:t>emails_lookup_table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374632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7C7BC-C03D-FB70-EB5F-171765EEC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3254CC7-11E7-BD75-AA92-07ADE3F91D3D}"/>
              </a:ext>
            </a:extLst>
          </p:cNvPr>
          <p:cNvSpPr txBox="1"/>
          <p:nvPr/>
        </p:nvSpPr>
        <p:spPr>
          <a:xfrm>
            <a:off x="175260" y="706483"/>
            <a:ext cx="1089279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[1] Build “</a:t>
            </a:r>
            <a:r>
              <a:rPr lang="en-US" b="0" i="0" dirty="0" err="1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emails_lookup_table</a:t>
            </a: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”</a:t>
            </a:r>
          </a:p>
          <a:p>
            <a:endParaRPr lang="en-US" dirty="0">
              <a:solidFill>
                <a:srgbClr val="1F1F1F"/>
              </a:solidFill>
              <a:latin typeface="Courier New" panose="02070309020205020404" pitchFamily="49" charset="0"/>
            </a:endParaRPr>
          </a:p>
          <a:p>
            <a:pPr marL="342900" indent="-342900">
              <a:buAutoNum type="arabicPeriod"/>
            </a:pPr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Load python_101_emails.csv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1F1F1F"/>
                </a:solidFill>
                <a:latin typeface="Courier New" panose="02070309020205020404" pitchFamily="49" charset="0"/>
              </a:rPr>
              <a:t>Read it and process it to build “</a:t>
            </a:r>
            <a:r>
              <a:rPr lang="en-US" dirty="0" err="1">
                <a:solidFill>
                  <a:srgbClr val="1F1F1F"/>
                </a:solidFill>
                <a:latin typeface="Courier New" panose="02070309020205020404" pitchFamily="49" charset="0"/>
              </a:rPr>
              <a:t>emails_lookup_table</a:t>
            </a:r>
            <a:r>
              <a:rPr lang="en-US" dirty="0">
                <a:solidFill>
                  <a:srgbClr val="1F1F1F"/>
                </a:solidFill>
                <a:latin typeface="Courier New" panose="02070309020205020404" pitchFamily="49" charset="0"/>
              </a:rPr>
              <a:t>”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1F1F1F"/>
                </a:solidFill>
                <a:latin typeface="Courier New" panose="02070309020205020404" pitchFamily="49" charset="0"/>
              </a:rPr>
              <a:t>Print it to ensure that you are getting all the details transferred from CSV to this data structure</a:t>
            </a:r>
          </a:p>
          <a:p>
            <a:pPr marL="342900" indent="-342900">
              <a:buAutoNum type="arabicPeriod"/>
            </a:pPr>
            <a:endParaRPr lang="en-US" dirty="0">
              <a:solidFill>
                <a:srgbClr val="1F1F1F"/>
              </a:solidFill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1F1F1F"/>
                </a:solidFill>
                <a:latin typeface="Courier New" panose="02070309020205020404" pitchFamily="49" charset="0"/>
              </a:rPr>
              <a:t>[2] Build “</a:t>
            </a:r>
            <a:r>
              <a:rPr lang="en-US" dirty="0" err="1">
                <a:solidFill>
                  <a:srgbClr val="1F1F1F"/>
                </a:solidFill>
                <a:latin typeface="Courier New" panose="02070309020205020404" pitchFamily="49" charset="0"/>
              </a:rPr>
              <a:t>students_data_with_scores</a:t>
            </a:r>
            <a:r>
              <a:rPr lang="en-US" dirty="0">
                <a:solidFill>
                  <a:srgbClr val="1F1F1F"/>
                </a:solidFill>
                <a:latin typeface="Courier New" panose="02070309020205020404" pitchFamily="49" charset="0"/>
              </a:rPr>
              <a:t>”</a:t>
            </a:r>
          </a:p>
          <a:p>
            <a:endParaRPr lang="en-US" dirty="0">
              <a:solidFill>
                <a:srgbClr val="1F1F1F"/>
              </a:solidFill>
              <a:latin typeface="Courier New" panose="02070309020205020404" pitchFamily="49" charset="0"/>
            </a:endParaRP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1F1F1F"/>
                </a:solidFill>
                <a:latin typeface="Courier New" panose="02070309020205020404" pitchFamily="49" charset="0"/>
              </a:rPr>
              <a:t>Load python_101_scores.csv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1F1F1F"/>
                </a:solidFill>
                <a:latin typeface="Courier New" panose="02070309020205020404" pitchFamily="49" charset="0"/>
              </a:rPr>
              <a:t>Read it and process it to build “</a:t>
            </a:r>
            <a:r>
              <a:rPr lang="en-US" dirty="0" err="1">
                <a:solidFill>
                  <a:srgbClr val="1F1F1F"/>
                </a:solidFill>
                <a:latin typeface="Courier New" panose="02070309020205020404" pitchFamily="49" charset="0"/>
              </a:rPr>
              <a:t>students_data_with_scores</a:t>
            </a:r>
            <a:r>
              <a:rPr lang="en-US" dirty="0">
                <a:solidFill>
                  <a:srgbClr val="1F1F1F"/>
                </a:solidFill>
                <a:latin typeface="Courier New" panose="02070309020205020404" pitchFamily="49" charset="0"/>
              </a:rPr>
              <a:t>”  (Please ensure that the first three rows are given special treatment – headers/</a:t>
            </a:r>
            <a:r>
              <a:rPr lang="en-US" dirty="0" err="1">
                <a:solidFill>
                  <a:srgbClr val="1F1F1F"/>
                </a:solidFill>
                <a:latin typeface="Courier New" panose="02070309020205020404" pitchFamily="49" charset="0"/>
              </a:rPr>
              <a:t>lables</a:t>
            </a:r>
            <a:r>
              <a:rPr lang="en-US" dirty="0">
                <a:solidFill>
                  <a:srgbClr val="1F1F1F"/>
                </a:solidFill>
                <a:latin typeface="Courier New" panose="02070309020205020404" pitchFamily="49" charset="0"/>
              </a:rPr>
              <a:t>, dates, and </a:t>
            </a:r>
            <a:r>
              <a:rPr lang="en-US" dirty="0" err="1">
                <a:solidFill>
                  <a:srgbClr val="1F1F1F"/>
                </a:solidFill>
                <a:latin typeface="Courier New" panose="02070309020205020404" pitchFamily="49" charset="0"/>
              </a:rPr>
              <a:t>max_permissible_points</a:t>
            </a:r>
            <a:r>
              <a:rPr lang="en-US" dirty="0">
                <a:solidFill>
                  <a:srgbClr val="1F1F1F"/>
                </a:solidFill>
                <a:latin typeface="Courier New" panose="02070309020205020404" pitchFamily="49" charset="0"/>
              </a:rPr>
              <a:t>)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rgbClr val="1F1F1F"/>
                </a:solidFill>
                <a:latin typeface="Courier New" panose="02070309020205020404" pitchFamily="49" charset="0"/>
              </a:rPr>
              <a:t>Print it to ensure that you are getting all the details transferred from CSV to this data structure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AE28E1-B273-83E1-9D9E-AC17CF797574}"/>
              </a:ext>
            </a:extLst>
          </p:cNvPr>
          <p:cNvSpPr txBox="1"/>
          <p:nvPr/>
        </p:nvSpPr>
        <p:spPr>
          <a:xfrm>
            <a:off x="2286000" y="167759"/>
            <a:ext cx="6191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Plan of action</a:t>
            </a:r>
          </a:p>
        </p:txBody>
      </p:sp>
    </p:spTree>
    <p:extLst>
      <p:ext uri="{BB962C8B-B14F-4D97-AF65-F5344CB8AC3E}">
        <p14:creationId xmlns:p14="http://schemas.microsoft.com/office/powerpoint/2010/main" val="3408911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4685D-C4CD-6CCD-5307-0C55CEF7D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3985611-8501-091D-1BC9-B76C86320BDA}"/>
              </a:ext>
            </a:extLst>
          </p:cNvPr>
          <p:cNvSpPr txBox="1"/>
          <p:nvPr/>
        </p:nvSpPr>
        <p:spPr>
          <a:xfrm>
            <a:off x="175260" y="706483"/>
            <a:ext cx="1089279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[2] Process both the data structures at the same time to build “a student’s report” through a function.</a:t>
            </a:r>
          </a:p>
          <a:p>
            <a:endParaRPr lang="en-US" dirty="0">
              <a:solidFill>
                <a:srgbClr val="1F1F1F"/>
              </a:solidFill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1F1F1F"/>
                </a:solidFill>
                <a:latin typeface="Courier New" panose="02070309020205020404" pitchFamily="49" charset="0"/>
              </a:rPr>
              <a:t>[3] Process both the data structures at the same time to build “instructors” report (again through a function)</a:t>
            </a:r>
          </a:p>
          <a:p>
            <a:endParaRPr lang="en-US" dirty="0">
              <a:solidFill>
                <a:srgbClr val="1F1F1F"/>
              </a:solidFill>
              <a:latin typeface="Courier New" panose="02070309020205020404" pitchFamily="49" charset="0"/>
            </a:endParaRPr>
          </a:p>
          <a:p>
            <a:endParaRPr lang="en-US" dirty="0">
              <a:solidFill>
                <a:srgbClr val="1F1F1F"/>
              </a:solidFill>
              <a:latin typeface="Courier New" panose="02070309020205020404" pitchFamily="49" charset="0"/>
            </a:endParaRPr>
          </a:p>
          <a:p>
            <a:r>
              <a:rPr lang="en-US" dirty="0">
                <a:solidFill>
                  <a:srgbClr val="1F1F1F"/>
                </a:solidFill>
                <a:latin typeface="Courier New" panose="02070309020205020404" pitchFamily="49" charset="0"/>
              </a:rPr>
              <a:t>[4] Call all of the above functions to run the entire project.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1F1F1F"/>
                </a:solidFill>
                <a:latin typeface="Courier New" panose="02070309020205020404" pitchFamily="49" charset="0"/>
              </a:rPr>
              <a:t>Read python_101_emails.csv and process it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1F1F1F"/>
                </a:solidFill>
                <a:latin typeface="Courier New" panose="02070309020205020404" pitchFamily="49" charset="0"/>
              </a:rPr>
              <a:t>Read Python_101_scores.csv and process it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1F1F1F"/>
                </a:solidFill>
                <a:latin typeface="Courier New" panose="02070309020205020404" pitchFamily="49" charset="0"/>
              </a:rPr>
              <a:t>Create Student Reports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1F1F1F"/>
                </a:solidFill>
                <a:latin typeface="Courier New" panose="02070309020205020404" pitchFamily="49" charset="0"/>
              </a:rPr>
              <a:t>Create Instructor Report</a:t>
            </a:r>
          </a:p>
          <a:p>
            <a:endParaRPr lang="en-US" dirty="0">
              <a:solidFill>
                <a:srgbClr val="1F1F1F"/>
              </a:solidFill>
              <a:latin typeface="Courier New" panose="02070309020205020404" pitchFamily="49" charset="0"/>
            </a:endParaRPr>
          </a:p>
          <a:p>
            <a:endParaRPr lang="en-US" dirty="0">
              <a:solidFill>
                <a:srgbClr val="1F1F1F"/>
              </a:solidFill>
              <a:latin typeface="Courier New" panose="02070309020205020404" pitchFamily="49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C7DF86-0119-FB9D-275E-D02A6544ECCD}"/>
              </a:ext>
            </a:extLst>
          </p:cNvPr>
          <p:cNvSpPr txBox="1"/>
          <p:nvPr/>
        </p:nvSpPr>
        <p:spPr>
          <a:xfrm>
            <a:off x="2286000" y="167759"/>
            <a:ext cx="61912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Plan of action (contd.)</a:t>
            </a:r>
          </a:p>
        </p:txBody>
      </p:sp>
    </p:spTree>
    <p:extLst>
      <p:ext uri="{BB962C8B-B14F-4D97-AF65-F5344CB8AC3E}">
        <p14:creationId xmlns:p14="http://schemas.microsoft.com/office/powerpoint/2010/main" val="1425933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602</Words>
  <Application>Microsoft Office PowerPoint</Application>
  <PresentationFormat>Widescreen</PresentationFormat>
  <Paragraphs>106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Jasthi, Jasthi (DI SW PLM LCS Q&amp;D TC&amp;POL)</dc:creator>
  <cp:lastModifiedBy>Jasthi, Jasthi (DI SW PLM LCS Q&amp;D TC&amp;POL)</cp:lastModifiedBy>
  <cp:revision>6</cp:revision>
  <dcterms:created xsi:type="dcterms:W3CDTF">2026-04-26T20:47:40Z</dcterms:created>
  <dcterms:modified xsi:type="dcterms:W3CDTF">2026-05-03T14:35:56Z</dcterms:modified>
</cp:coreProperties>
</file>